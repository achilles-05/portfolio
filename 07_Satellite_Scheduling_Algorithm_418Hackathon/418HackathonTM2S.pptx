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5" r:id="rId5"/>
    <p:sldId id="263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303DB-A2D7-1B90-AAB0-F6744C3CF2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A1C7FE-743D-3FCE-799F-427F1DB832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30162-618E-6699-4A2A-9C48A898C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937D3-E659-4CD8-A37F-5BE5D8C83CF3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E4288-23E8-B536-83D1-FB451D4ED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E7A1D-9C4B-0B0A-5511-7CC33A5CF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D5F7F-D77E-4DB7-8FE8-33373ED2C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51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3FFFE-6662-6F74-9167-E5770D98F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46857-52DE-C65E-54A8-B964DDEDA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0E9D7-EE47-B4CC-FB8B-CE5380F9F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937D3-E659-4CD8-A37F-5BE5D8C83CF3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0FA48-7126-98D3-2759-751003E1F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F14A0-4968-A83F-87BE-3162669B1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D5F7F-D77E-4DB7-8FE8-33373ED2C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778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A58B-7E93-E214-9B08-FE494E464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4AD2F9-422D-8D45-1C24-9DFA202CA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94C1D-3A87-1D4B-0D88-CDAA17F7D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937D3-E659-4CD8-A37F-5BE5D8C83CF3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86708-3CDC-C91B-4E3E-471E48B4D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35E1A-8EBD-931D-CCF2-34D13AE87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D5F7F-D77E-4DB7-8FE8-33373ED2C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511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14D7F-D47D-C346-C019-6DD9E3997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A5029-184B-DFC0-FDD6-9DA46B12BE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2001CD-ACB6-6A7C-1F58-AA8A90CE9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8C5990-037E-BDA3-474C-F85C90242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937D3-E659-4CD8-A37F-5BE5D8C83CF3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3F9C79-36F9-3A87-BCC4-E2D8BABE1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6984B-9B31-E8CE-4AE6-0CBFBCBDC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D5F7F-D77E-4DB7-8FE8-33373ED2C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214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0AA12-73A5-ED37-F5C9-083919CE2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245C32-E94E-2C79-1771-6978AE29D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9A784E-1EB9-C71F-D59C-D09840168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60F2B5-6D85-EEA3-CF62-34D3F4A632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E875E7-251D-7DE5-6791-B8847EE5B8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BF6F8A-A60B-32DB-1D06-F98F0F188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937D3-E659-4CD8-A37F-5BE5D8C83CF3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B1C2D6-D0BE-4494-4D8B-39CECA92D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9673FA-2187-25FB-F049-56DA62D0A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D5F7F-D77E-4DB7-8FE8-33373ED2C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674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DEECE-B9A4-5A7F-C232-82DF02750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D4F0E3-30BA-14A4-2A04-3884A3925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937D3-E659-4CD8-A37F-5BE5D8C83CF3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576F7C-9B39-0B64-7E0E-F49EC56CE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FA7B1F-EB4F-B56E-DF40-094C98A8D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D5F7F-D77E-4DB7-8FE8-33373ED2C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102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CBD44C-D327-A40F-CD30-29CA7957D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937D3-E659-4CD8-A37F-5BE5D8C83CF3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BFB7E2-AA7C-E206-9B5A-95051ECFC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86BE6-B045-5DF7-E8ED-639B82D83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D5F7F-D77E-4DB7-8FE8-33373ED2C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446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04D57-BA9B-17FA-DD0F-FED92C511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1D23C-FF69-718F-E89C-09A5657B5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DB5F1C-E4E6-1BD2-CBAA-7910C603E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8CFB4D-A548-F292-C89C-67B3A3362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937D3-E659-4CD8-A37F-5BE5D8C83CF3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701F50-D78B-780C-C8C8-62DF60C62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1CE8EB-DBFF-8757-0B4F-F675E7897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D5F7F-D77E-4DB7-8FE8-33373ED2C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365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BAC78-2525-B80A-D5E6-0B149CCBC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4DEF98-1B15-AFAC-1AC2-071E4ECAAC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B0974D-A15C-4DF6-3519-08A2930001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C78661-78DE-91AB-1F7B-C21A233D0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937D3-E659-4CD8-A37F-5BE5D8C83CF3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7DD3A4-E070-F65E-89E5-63201E5C0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4F17B1-778B-1851-2CC9-FA7A598D3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D5F7F-D77E-4DB7-8FE8-33373ED2C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560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50B67-E7C8-8BA5-AE09-45E587062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EC272B-0FB0-F0B8-C511-0496FFF967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3B540-023C-26B1-E704-781E6970D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937D3-E659-4CD8-A37F-5BE5D8C83CF3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98F7C-79F3-5629-8264-09B734DCB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71DCD-047C-F1B7-5CF3-C23966C7A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D5F7F-D77E-4DB7-8FE8-33373ED2C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926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9D7112-8152-D94D-8468-1D57DA4FEE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A5D3A8-5546-FB35-E64C-6FEEB5CF52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58699-3518-FD0F-B4BB-F05B7D0F8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937D3-E659-4CD8-A37F-5BE5D8C83CF3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5F859-A7ED-A3BF-DCE7-0B22733B9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B36BB-1EF0-FA9E-FFEA-35F8798F9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D5F7F-D77E-4DB7-8FE8-33373ED2C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093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-58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20F370-E417-4AFF-FE3E-2836FCF36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8420F-8708-309E-3FFB-287453FCE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40306-A625-7FEC-52A1-EB4FD3D4F7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F937D3-E659-4CD8-A37F-5BE5D8C83CF3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A2C7D-2F63-FA15-1847-3E717EEFB6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71EBF-5598-C7C5-EEA4-DC32A18B4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BD5F7F-D77E-4DB7-8FE8-33373ED2C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644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AC6359-CF2A-FA57-CBF7-EB0364CA2603}"/>
              </a:ext>
            </a:extLst>
          </p:cNvPr>
          <p:cNvSpPr/>
          <p:nvPr/>
        </p:nvSpPr>
        <p:spPr>
          <a:xfrm>
            <a:off x="8388121" y="5214022"/>
            <a:ext cx="3524684" cy="769441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BD0572-6688-6D1C-DE95-9D60597CE1CB}"/>
              </a:ext>
            </a:extLst>
          </p:cNvPr>
          <p:cNvSpPr txBox="1"/>
          <p:nvPr/>
        </p:nvSpPr>
        <p:spPr>
          <a:xfrm>
            <a:off x="449867" y="3087545"/>
            <a:ext cx="825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  <a:latin typeface="Garamond" panose="02020404030301010803" pitchFamily="18" charset="0"/>
                <a:ea typeface="MS Mincho" panose="02020609040205080304" pitchFamily="49" charset="-128"/>
              </a:rPr>
              <a:t>Objective: Maximize coverage under strict physical constraints with minimal control effort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80B97B-2FD9-7EFD-F540-793C926C64F7}"/>
              </a:ext>
            </a:extLst>
          </p:cNvPr>
          <p:cNvSpPr txBox="1"/>
          <p:nvPr/>
        </p:nvSpPr>
        <p:spPr>
          <a:xfrm>
            <a:off x="404464" y="1933383"/>
            <a:ext cx="74849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cap="none" spc="0" dirty="0">
                <a:ln w="12700">
                  <a:solidFill>
                    <a:schemeClr val="bg1"/>
                  </a:solidFill>
                  <a:prstDash val="solid"/>
                </a:ln>
                <a:noFill/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BINARY BRAINS</a:t>
            </a:r>
          </a:p>
          <a:p>
            <a:endParaRPr lang="en-US" sz="7200" dirty="0">
              <a:ln w="12700">
                <a:solidFill>
                  <a:schemeClr val="tx1"/>
                </a:solidFill>
              </a:ln>
              <a:solidFill>
                <a:schemeClr val="bg1">
                  <a:lumMod val="95000"/>
                </a:schemeClr>
              </a:solidFill>
              <a:effectLst/>
              <a:latin typeface="Garamond" panose="02020404030301010803" pitchFamily="18" charset="0"/>
              <a:ea typeface="MS Mincho" panose="02020609040205080304" pitchFamily="49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ECF02B-CC9D-CEAA-7101-BE64A916F881}"/>
              </a:ext>
            </a:extLst>
          </p:cNvPr>
          <p:cNvSpPr txBox="1"/>
          <p:nvPr/>
        </p:nvSpPr>
        <p:spPr>
          <a:xfrm>
            <a:off x="406587" y="542956"/>
            <a:ext cx="31373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  <a:ea typeface="MS Mincho" panose="02020609040205080304" pitchFamily="49" charset="-128"/>
              </a:rPr>
              <a:t>418 Hackathon Submission</a:t>
            </a:r>
            <a:br>
              <a:rPr lang="en-US" sz="2000" b="1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  <a:ea typeface="MS Mincho" panose="02020609040205080304" pitchFamily="49" charset="-128"/>
              </a:rPr>
            </a:br>
            <a:endParaRPr lang="en-US" sz="2000" b="1" dirty="0">
              <a:solidFill>
                <a:schemeClr val="bg1">
                  <a:lumMod val="95000"/>
                </a:schemeClr>
              </a:solidFill>
              <a:latin typeface="Garamond" panose="02020404030301010803" pitchFamily="18" charset="0"/>
              <a:ea typeface="MS Mincho" panose="02020609040205080304" pitchFamily="49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31946F-7770-C0BE-23A6-BF981FC27910}"/>
              </a:ext>
            </a:extLst>
          </p:cNvPr>
          <p:cNvSpPr txBox="1"/>
          <p:nvPr/>
        </p:nvSpPr>
        <p:spPr>
          <a:xfrm>
            <a:off x="404464" y="963887"/>
            <a:ext cx="2114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Garamond" panose="02020404030301010803" pitchFamily="18" charset="0"/>
                <a:ea typeface="MS Mincho" panose="02020609040205080304" pitchFamily="49" charset="-128"/>
              </a:rPr>
              <a:t>Track: Lost-In-Space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0668AC-AA2B-3F27-27D4-7340F89B15D6}"/>
              </a:ext>
            </a:extLst>
          </p:cNvPr>
          <p:cNvSpPr txBox="1"/>
          <p:nvPr/>
        </p:nvSpPr>
        <p:spPr>
          <a:xfrm>
            <a:off x="1816595" y="5972914"/>
            <a:ext cx="10375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  <a:ea typeface="MS Mincho" panose="02020609040205080304" pitchFamily="49" charset="-128"/>
              </a:rPr>
              <a:t>🚨 First team to detect and report the “off-nadir” bug in case 3 within 4 hours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844FAC-860B-4889-F38C-57BC35E5ABF9}"/>
              </a:ext>
            </a:extLst>
          </p:cNvPr>
          <p:cNvSpPr/>
          <p:nvPr/>
        </p:nvSpPr>
        <p:spPr>
          <a:xfrm>
            <a:off x="6003634" y="2967335"/>
            <a:ext cx="1847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92EEB8-36C9-DC54-01F9-60F1050C34AF}"/>
              </a:ext>
            </a:extLst>
          </p:cNvPr>
          <p:cNvSpPr txBox="1"/>
          <p:nvPr/>
        </p:nvSpPr>
        <p:spPr>
          <a:xfrm>
            <a:off x="8388121" y="5404868"/>
            <a:ext cx="334912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aramond" panose="02020404030301010803" pitchFamily="18" charset="0"/>
              </a:rPr>
              <a:t>🎯</a:t>
            </a:r>
            <a:r>
              <a:rPr lang="en-US" sz="2000" b="1" dirty="0">
                <a:solidFill>
                  <a:schemeClr val="bg1"/>
                </a:solidFill>
                <a:latin typeface="Garamond" panose="02020404030301010803" pitchFamily="18" charset="0"/>
                <a:cs typeface="Courier New" panose="02070309020205020404" pitchFamily="49" charset="0"/>
              </a:rPr>
              <a:t>FINAL SCORE:    </a:t>
            </a:r>
            <a:r>
              <a:rPr lang="en-US" sz="2400" b="1" dirty="0">
                <a:solidFill>
                  <a:schemeClr val="bg1"/>
                </a:solidFill>
                <a:latin typeface="Garamond" panose="02020404030301010803" pitchFamily="18" charset="0"/>
                <a:cs typeface="Courier New" panose="02070309020205020404" pitchFamily="49" charset="0"/>
              </a:rPr>
              <a:t>1.2756</a:t>
            </a:r>
          </a:p>
          <a:p>
            <a:endParaRPr lang="en-US" sz="2000" dirty="0">
              <a:latin typeface="Garamond" panose="02020404030301010803" pitchFamily="18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2CAD381-EEB7-43CA-DFF9-46CCF0B1D993}"/>
              </a:ext>
            </a:extLst>
          </p:cNvPr>
          <p:cNvSpPr/>
          <p:nvPr/>
        </p:nvSpPr>
        <p:spPr>
          <a:xfrm>
            <a:off x="10727744" y="5404868"/>
            <a:ext cx="1097280" cy="461665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681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2A553-2368-FCD0-9E91-92DD741AD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A56F8357-2237-30E1-BBAB-C8A1DE82E366}"/>
              </a:ext>
            </a:extLst>
          </p:cNvPr>
          <p:cNvSpPr txBox="1"/>
          <p:nvPr/>
        </p:nvSpPr>
        <p:spPr>
          <a:xfrm>
            <a:off x="404464" y="237283"/>
            <a:ext cx="30565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  <a:ea typeface="MS Mincho" panose="02020609040205080304" pitchFamily="49" charset="-128"/>
              </a:rPr>
              <a:t>Discovering the BUG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ADB641-1FE2-7ED5-7B22-03DDF31799C3}"/>
              </a:ext>
            </a:extLst>
          </p:cNvPr>
          <p:cNvSpPr txBox="1"/>
          <p:nvPr/>
        </p:nvSpPr>
        <p:spPr>
          <a:xfrm>
            <a:off x="404464" y="670684"/>
            <a:ext cx="8795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Garamond" panose="02020404030301010803" pitchFamily="18" charset="0"/>
                <a:ea typeface="MS Mincho" panose="02020609040205080304" pitchFamily="49" charset="-128"/>
              </a:rPr>
              <a:t>What made us sure in 4 hours that CASE 3 was 100% mathematically and physically un-scorable.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124CEF-7F46-6349-C881-654B00613AC9}"/>
              </a:ext>
            </a:extLst>
          </p:cNvPr>
          <p:cNvSpPr txBox="1"/>
          <p:nvPr/>
        </p:nvSpPr>
        <p:spPr>
          <a:xfrm>
            <a:off x="6675120" y="1335023"/>
            <a:ext cx="518891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85000"/>
                  </a:schemeClr>
                </a:solidFill>
                <a:latin typeface="Garamond" panose="02020404030301010803" pitchFamily="18" charset="0"/>
              </a:rPr>
              <a:t>The Challenge: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Garamond" panose="02020404030301010803" pitchFamily="18" charset="0"/>
              </a:rPr>
              <a:t>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Garamond" panose="02020404030301010803" pitchFamily="18" charset="0"/>
              </a:rPr>
              <a:t>The </a:t>
            </a:r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simulator computes </a:t>
            </a:r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target zenith angle</a:t>
            </a:r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using dot product with the local surface normal.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Due to Earth curvature at ~500 km altitude and ~1009 km cross-track offset, this results in a zenith &gt;65°.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Hence, all Case 3 configurations are systematically rejected when the 60° limit is enforced on this zenith, instead of the off-nadir.</a:t>
            </a:r>
            <a:br>
              <a:rPr lang="en-US" dirty="0">
                <a:solidFill>
                  <a:schemeClr val="bg1">
                    <a:lumMod val="85000"/>
                  </a:schemeClr>
                </a:solidFill>
                <a:latin typeface="Garamond" panose="02020404030301010803" pitchFamily="18" charset="0"/>
              </a:rPr>
            </a:br>
            <a:endParaRPr lang="en-US" dirty="0">
              <a:solidFill>
                <a:schemeClr val="bg1">
                  <a:lumMod val="85000"/>
                </a:schemeClr>
              </a:solidFill>
              <a:latin typeface="Garamond" panose="02020404030301010803" pitchFamily="18" charset="0"/>
            </a:endParaRPr>
          </a:p>
          <a:p>
            <a:r>
              <a:rPr lang="en-US" b="1" dirty="0">
                <a:solidFill>
                  <a:schemeClr val="bg1">
                    <a:lumMod val="85000"/>
                  </a:schemeClr>
                </a:solidFill>
                <a:latin typeface="Garamond" panose="02020404030301010803" pitchFamily="18" charset="0"/>
              </a:rPr>
              <a:t>The Exhaustive Search: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Garamond" panose="02020404030301010803" pitchFamily="18" charset="0"/>
              </a:rPr>
              <a:t> We tested 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  <a:latin typeface="Garamond" panose="02020404030301010803" pitchFamily="18" charset="0"/>
              </a:rPr>
              <a:t>8+ unique astrodynamics strategies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Garamond" panose="02020404030301010803" pitchFamily="18" charset="0"/>
              </a:rPr>
              <a:t> before concluding failure.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Garamond" panose="02020404030301010803" pitchFamily="18" charset="0"/>
              </a:rPr>
              <a:t>Rotation Earth Compensation mapping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Garamond" panose="02020404030301010803" pitchFamily="18" charset="0"/>
              </a:rPr>
              <a:t>Apogee-drift maneuvers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Garamond" panose="02020404030301010803" pitchFamily="18" charset="0"/>
              </a:rPr>
              <a:t>Custom non-linear target-leading</a:t>
            </a:r>
            <a:br>
              <a:rPr lang="en-US" dirty="0">
                <a:solidFill>
                  <a:schemeClr val="bg1">
                    <a:lumMod val="85000"/>
                  </a:schemeClr>
                </a:solidFill>
                <a:latin typeface="Garamond" panose="02020404030301010803" pitchFamily="18" charset="0"/>
              </a:rPr>
            </a:br>
            <a:endParaRPr lang="en-US" dirty="0">
              <a:solidFill>
                <a:schemeClr val="bg1">
                  <a:lumMod val="85000"/>
                </a:schemeClr>
              </a:solidFill>
              <a:latin typeface="Garamond" panose="02020404030301010803" pitchFamily="18" charset="0"/>
            </a:endParaRPr>
          </a:p>
          <a:p>
            <a:r>
              <a:rPr lang="en-US" b="1" dirty="0">
                <a:solidFill>
                  <a:schemeClr val="bg1">
                    <a:lumMod val="85000"/>
                  </a:schemeClr>
                </a:solidFill>
                <a:latin typeface="Garamond" panose="02020404030301010803" pitchFamily="18" charset="0"/>
              </a:rPr>
              <a:t>Confirmation of bug: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Garamond" panose="02020404030301010803" pitchFamily="18" charset="0"/>
              </a:rPr>
              <a:t>When we artificially enforced the correct formula locally; Case 3 worked perfectly.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3FD17D5-9D72-EC6B-37FD-46909C0D4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790" y="1335023"/>
            <a:ext cx="5654210" cy="38681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2197091-5FF1-16B9-DEC5-614A78BCD722}"/>
                  </a:ext>
                </a:extLst>
              </p:cNvPr>
              <p:cNvSpPr txBox="1"/>
              <p:nvPr/>
            </p:nvSpPr>
            <p:spPr>
              <a:xfrm>
                <a:off x="1524" y="5522977"/>
                <a:ext cx="609447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𝑧𝑒𝑛𝑖𝑡h</m:t>
                          </m:r>
                        </m:sub>
                      </m:sSub>
                      <m:sSup>
                        <m:sSup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fName>
                            <m:e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</m:e>
                          </m:func>
                        </m:e>
                        <m:sup>
                          <m:r>
                            <a:rPr lang="en-US" sz="24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b>
                              <m:r>
                                <a:rPr lang="en-US" sz="2400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  <m:r>
                            <a:rPr lang="en-US" sz="2400" b="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2400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𝐧</m:t>
                              </m:r>
                            </m:e>
                            <m:sub>
                              <m:r>
                                <a:rPr lang="en-US" sz="2400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𝑙𝑜𝑐𝑎𝑙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2197091-5FF1-16B9-DEC5-614A78BCD7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" y="5522977"/>
                <a:ext cx="6094476" cy="461665"/>
              </a:xfrm>
              <a:prstGeom prst="rect">
                <a:avLst/>
              </a:prstGeom>
              <a:blipFill>
                <a:blip r:embed="rId3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9A4B418A-616C-55D8-A64D-3CD1830CCB58}"/>
              </a:ext>
            </a:extLst>
          </p:cNvPr>
          <p:cNvSpPr txBox="1"/>
          <p:nvPr/>
        </p:nvSpPr>
        <p:spPr>
          <a:xfrm>
            <a:off x="683133" y="6103153"/>
            <a:ext cx="47312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Evaluator enforces 60° on zenith, not off-nadir → systematic rejection</a:t>
            </a:r>
          </a:p>
        </p:txBody>
      </p:sp>
    </p:spTree>
    <p:extLst>
      <p:ext uri="{BB962C8B-B14F-4D97-AF65-F5344CB8AC3E}">
        <p14:creationId xmlns:p14="http://schemas.microsoft.com/office/powerpoint/2010/main" val="932685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0F1E6-AFC6-B04B-0AE5-00BF0F944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5F93FB43-1D50-C332-A8C3-AD56C95DFEE3}"/>
              </a:ext>
            </a:extLst>
          </p:cNvPr>
          <p:cNvSpPr txBox="1"/>
          <p:nvPr/>
        </p:nvSpPr>
        <p:spPr>
          <a:xfrm>
            <a:off x="112022" y="300797"/>
            <a:ext cx="34425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Garamond" panose="02020404030301010803" pitchFamily="18" charset="0"/>
              </a:rPr>
              <a:t>Core Function Logic</a:t>
            </a:r>
            <a:endParaRPr lang="en-US" sz="3600" b="1" dirty="0">
              <a:solidFill>
                <a:schemeClr val="bg1"/>
              </a:solidFill>
              <a:latin typeface="Garamond" panose="02020404030301010803" pitchFamily="18" charset="0"/>
              <a:ea typeface="MS Mincho" panose="02020609040205080304" pitchFamily="49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8CCDEC6-C8BC-AFC6-9915-4AB711B5F7F0}"/>
                  </a:ext>
                </a:extLst>
              </p:cNvPr>
              <p:cNvSpPr txBox="1"/>
              <p:nvPr/>
            </p:nvSpPr>
            <p:spPr>
              <a:xfrm>
                <a:off x="5149595" y="1897568"/>
                <a:ext cx="6684264" cy="4801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Garamond" panose="02020404030301010803" pitchFamily="18" charset="0"/>
                  </a:rPr>
                  <a:t>Objective: </a:t>
                </a:r>
                <a:r>
                  <a:rPr lang="en-US" u="sng" dirty="0">
                    <a:solidFill>
                      <a:schemeClr val="bg1"/>
                    </a:solidFill>
                    <a:latin typeface="Garamond" panose="02020404030301010803" pitchFamily="18" charset="0"/>
                  </a:rPr>
                  <a:t>Maximizing theoretical coverage </a:t>
                </a:r>
                <a:r>
                  <a:rPr lang="en-US" dirty="0">
                    <a:solidFill>
                      <a:schemeClr val="bg1"/>
                    </a:solidFill>
                    <a:latin typeface="Garamond" panose="02020404030301010803" pitchFamily="18" charset="0"/>
                  </a:rPr>
                  <a:t>while strictly optimizing for </a:t>
                </a:r>
                <a:r>
                  <a:rPr lang="en-US" u="sng" dirty="0">
                    <a:solidFill>
                      <a:schemeClr val="bg1"/>
                    </a:solidFill>
                    <a:latin typeface="Garamond" panose="02020404030301010803" pitchFamily="18" charset="0"/>
                  </a:rPr>
                  <a:t>ultra-low control effort</a:t>
                </a:r>
                <a:r>
                  <a:rPr lang="en-US" dirty="0">
                    <a:solidFill>
                      <a:schemeClr val="bg1"/>
                    </a:solidFill>
                    <a:latin typeface="Garamond" panose="02020404030301010803" pitchFamily="18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Garamond" panose="02020404030301010803" pitchFamily="18" charset="0"/>
                  </a:rPr>
                  <a:t>&lt;0.74) and robust Basilisk safety limits.</a:t>
                </a:r>
              </a:p>
              <a:p>
                <a:endParaRPr lang="en-US" dirty="0">
                  <a:solidFill>
                    <a:schemeClr val="bg1"/>
                  </a:solidFill>
                  <a:latin typeface="Garamond" panose="02020404030301010803" pitchFamily="18" charset="0"/>
                </a:endParaRPr>
              </a:p>
              <a:p>
                <a:endParaRPr lang="en-US" dirty="0">
                  <a:solidFill>
                    <a:schemeClr val="bg1"/>
                  </a:solidFill>
                  <a:latin typeface="Garamond" panose="02020404030301010803" pitchFamily="18" charset="0"/>
                </a:endParaRPr>
              </a:p>
              <a:p>
                <a:endParaRPr lang="en-US" dirty="0">
                  <a:solidFill>
                    <a:schemeClr val="bg1"/>
                  </a:solidFill>
                  <a:latin typeface="Garamond" panose="02020404030301010803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bg1"/>
                    </a:solidFill>
                    <a:latin typeface="Garamond" panose="02020404030301010803" pitchFamily="18" charset="0"/>
                  </a:rPr>
                  <a:t>Core Algorithm: </a:t>
                </a:r>
                <a:r>
                  <a:rPr lang="en-US" dirty="0">
                    <a:solidFill>
                      <a:schemeClr val="bg1"/>
                    </a:solidFill>
                    <a:latin typeface="Garamond" panose="02020404030301010803" pitchFamily="18" charset="0"/>
                  </a:rPr>
                  <a:t>Hexagonal tessellation routed via a 2-opt Traveling Salesperson solver, smoothed by an ultra dense 5 Hz SLERP integrator.</a:t>
                </a:r>
              </a:p>
              <a:p>
                <a:endParaRPr lang="en-US" dirty="0">
                  <a:solidFill>
                    <a:schemeClr val="bg1"/>
                  </a:solidFill>
                  <a:latin typeface="Garamond" panose="02020404030301010803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bg1"/>
                    </a:solidFill>
                    <a:latin typeface="Garamond" panose="02020404030301010803" pitchFamily="18" charset="0"/>
                  </a:rPr>
                  <a:t>Beating the Silent Killer (Smear): </a:t>
                </a:r>
                <a:r>
                  <a:rPr lang="en-US" dirty="0">
                    <a:solidFill>
                      <a:schemeClr val="bg1"/>
                    </a:solidFill>
                    <a:latin typeface="Garamond" panose="02020404030301010803" pitchFamily="18" charset="0"/>
                  </a:rPr>
                  <a:t>We never slew and shoot. We enforce a severe 0.3s mechanical hold-pad before every 120ms shutter.</a:t>
                </a:r>
                <a:br>
                  <a:rPr lang="en-US" dirty="0">
                    <a:solidFill>
                      <a:schemeClr val="bg1"/>
                    </a:solidFill>
                    <a:latin typeface="Garamond" panose="02020404030301010803" pitchFamily="18" charset="0"/>
                  </a:rPr>
                </a:br>
                <a:endParaRPr lang="en-US" dirty="0">
                  <a:solidFill>
                    <a:schemeClr val="bg1"/>
                  </a:solidFill>
                  <a:latin typeface="Garamond" panose="02020404030301010803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bg1"/>
                    </a:solidFill>
                    <a:latin typeface="Garamond" panose="02020404030301010803" pitchFamily="18" charset="0"/>
                  </a:rPr>
                  <a:t>Overall Strategy: </a:t>
                </a:r>
                <a:r>
                  <a:rPr lang="en-US" dirty="0">
                    <a:solidFill>
                      <a:schemeClr val="bg1"/>
                    </a:solidFill>
                    <a:latin typeface="Garamond" panose="02020404030301010803" pitchFamily="18" charset="0"/>
                  </a:rPr>
                  <a:t>We discretize the AOI, filter reachable targets under constraints, then compute a minimum-slew path using TSP and smooth quaternion tracking.</a:t>
                </a:r>
                <a:br>
                  <a:rPr lang="en-US" dirty="0">
                    <a:solidFill>
                      <a:schemeClr val="bg1"/>
                    </a:solidFill>
                    <a:latin typeface="Garamond" panose="02020404030301010803" pitchFamily="18" charset="0"/>
                  </a:rPr>
                </a:br>
                <a:endParaRPr lang="en-US" dirty="0">
                  <a:solidFill>
                    <a:schemeClr val="bg1"/>
                  </a:solidFill>
                  <a:latin typeface="Garamond" panose="02020404030301010803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8CCDEC6-C8BC-AFC6-9915-4AB711B5F7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9595" y="1897568"/>
                <a:ext cx="6684264" cy="4801314"/>
              </a:xfrm>
              <a:prstGeom prst="rect">
                <a:avLst/>
              </a:prstGeom>
              <a:blipFill>
                <a:blip r:embed="rId2"/>
                <a:stretch>
                  <a:fillRect l="-821" t="-635" r="-10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BEA22794-5934-1AB7-2DC5-555AD767B2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481" y="1959196"/>
            <a:ext cx="4168544" cy="4168544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1C9A169-7031-B159-ED6F-B2571A56E1C7}"/>
              </a:ext>
            </a:extLst>
          </p:cNvPr>
          <p:cNvSpPr txBox="1"/>
          <p:nvPr/>
        </p:nvSpPr>
        <p:spPr>
          <a:xfrm>
            <a:off x="358141" y="6218649"/>
            <a:ext cx="40012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Garamond" panose="02020404030301010803" pitchFamily="18" charset="0"/>
                <a:ea typeface="MS Mincho" panose="02020609040205080304" pitchFamily="49" charset="-128"/>
              </a:rPr>
              <a:t>Animation showing TSP logic execution visually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6754C1-DD8B-2D52-63F5-56F002B50079}"/>
              </a:ext>
            </a:extLst>
          </p:cNvPr>
          <p:cNvSpPr txBox="1"/>
          <p:nvPr/>
        </p:nvSpPr>
        <p:spPr>
          <a:xfrm>
            <a:off x="4005233" y="331574"/>
            <a:ext cx="48876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2-opt TSP router with dense SLERP</a:t>
            </a:r>
            <a:endParaRPr lang="en-US" sz="2400" dirty="0">
              <a:solidFill>
                <a:schemeClr val="bg1">
                  <a:lumMod val="85000"/>
                </a:schemeClr>
              </a:solidFill>
              <a:latin typeface="Garamond" panose="02020404030301010803" pitchFamily="18" charset="0"/>
              <a:ea typeface="MS Mincho" panose="02020609040205080304" pitchFamily="49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4E770CA-C6CB-CC5F-A2D7-3A88E0CB4433}"/>
                  </a:ext>
                </a:extLst>
              </p:cNvPr>
              <p:cNvSpPr txBox="1"/>
              <p:nvPr/>
            </p:nvSpPr>
            <p:spPr>
              <a:xfrm>
                <a:off x="3431902" y="270183"/>
                <a:ext cx="487313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4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4E770CA-C6CB-CC5F-A2D7-3A88E0CB4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1902" y="270183"/>
                <a:ext cx="487313" cy="615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AC510559-6040-4D17-41A3-E1BEB91B00E1}"/>
              </a:ext>
            </a:extLst>
          </p:cNvPr>
          <p:cNvSpPr/>
          <p:nvPr/>
        </p:nvSpPr>
        <p:spPr>
          <a:xfrm>
            <a:off x="4005233" y="300797"/>
            <a:ext cx="4887685" cy="58493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961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63D68-C264-2048-A9D6-7A5760819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E20129C-B94C-0B98-FB7B-AAA9F93E3BE8}"/>
              </a:ext>
            </a:extLst>
          </p:cNvPr>
          <p:cNvSpPr txBox="1"/>
          <p:nvPr/>
        </p:nvSpPr>
        <p:spPr>
          <a:xfrm>
            <a:off x="112022" y="300797"/>
            <a:ext cx="34425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Garamond" panose="02020404030301010803" pitchFamily="18" charset="0"/>
              </a:rPr>
              <a:t>Core Function Logic</a:t>
            </a:r>
            <a:endParaRPr lang="en-US" sz="3600" b="1" dirty="0">
              <a:solidFill>
                <a:schemeClr val="bg1"/>
              </a:solidFill>
              <a:latin typeface="Garamond" panose="02020404030301010803" pitchFamily="18" charset="0"/>
              <a:ea typeface="MS Mincho" panose="02020609040205080304" pitchFamily="49" charset="-12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C37EF5-D479-6069-9169-56D120118ADC}"/>
              </a:ext>
            </a:extLst>
          </p:cNvPr>
          <p:cNvSpPr txBox="1"/>
          <p:nvPr/>
        </p:nvSpPr>
        <p:spPr>
          <a:xfrm>
            <a:off x="4005233" y="331574"/>
            <a:ext cx="48876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2-opt TSP router with dense SLERP</a:t>
            </a:r>
            <a:endParaRPr lang="en-US" sz="2400" dirty="0">
              <a:solidFill>
                <a:schemeClr val="bg1">
                  <a:lumMod val="85000"/>
                </a:schemeClr>
              </a:solidFill>
              <a:latin typeface="Garamond" panose="02020404030301010803" pitchFamily="18" charset="0"/>
              <a:ea typeface="MS Mincho" panose="02020609040205080304" pitchFamily="49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B124DFE-8A29-ED2E-7152-280CBC97D959}"/>
                  </a:ext>
                </a:extLst>
              </p:cNvPr>
              <p:cNvSpPr txBox="1"/>
              <p:nvPr/>
            </p:nvSpPr>
            <p:spPr>
              <a:xfrm>
                <a:off x="3431902" y="270183"/>
                <a:ext cx="487313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4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B124DFE-8A29-ED2E-7152-280CBC97D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1902" y="270183"/>
                <a:ext cx="487313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7134B75C-E232-103C-823D-D5AF7206CEFC}"/>
              </a:ext>
            </a:extLst>
          </p:cNvPr>
          <p:cNvSpPr/>
          <p:nvPr/>
        </p:nvSpPr>
        <p:spPr>
          <a:xfrm>
            <a:off x="4005233" y="300797"/>
            <a:ext cx="4887685" cy="58493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AD0EE0-222F-3226-0E19-7847CA84A97E}"/>
              </a:ext>
            </a:extLst>
          </p:cNvPr>
          <p:cNvSpPr/>
          <p:nvPr/>
        </p:nvSpPr>
        <p:spPr>
          <a:xfrm>
            <a:off x="685799" y="1809750"/>
            <a:ext cx="2152651" cy="118110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AOI Grid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(Serpentine)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9C41E8-A859-96DB-E028-9DA8E46C88D9}"/>
              </a:ext>
            </a:extLst>
          </p:cNvPr>
          <p:cNvSpPr/>
          <p:nvPr/>
        </p:nvSpPr>
        <p:spPr>
          <a:xfrm>
            <a:off x="4867275" y="1809750"/>
            <a:ext cx="2446402" cy="118110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Feasibility Filter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Off-Nadir ≤ 59.2°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2D2B34-73F8-F555-A80E-7C87920C919D}"/>
              </a:ext>
            </a:extLst>
          </p:cNvPr>
          <p:cNvSpPr/>
          <p:nvPr/>
        </p:nvSpPr>
        <p:spPr>
          <a:xfrm>
            <a:off x="9201149" y="1809750"/>
            <a:ext cx="2152651" cy="118110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2-Opt TSP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Min Slew Path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9C4F26-ED9F-AF08-46F0-EFE3C42438A2}"/>
              </a:ext>
            </a:extLst>
          </p:cNvPr>
          <p:cNvSpPr/>
          <p:nvPr/>
        </p:nvSpPr>
        <p:spPr>
          <a:xfrm>
            <a:off x="6977063" y="4648200"/>
            <a:ext cx="2628900" cy="118110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SLERP + Hold Pad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0.3s Stabilization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4CDC3A-906B-F589-3D27-3C51F289FF13}"/>
              </a:ext>
            </a:extLst>
          </p:cNvPr>
          <p:cNvSpPr/>
          <p:nvPr/>
        </p:nvSpPr>
        <p:spPr>
          <a:xfrm>
            <a:off x="2714624" y="4648200"/>
            <a:ext cx="2152651" cy="118110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Safe Imaging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Valid Frames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A9633008-52D0-C3A9-B328-B4FA0B9B06BF}"/>
              </a:ext>
            </a:extLst>
          </p:cNvPr>
          <p:cNvSpPr/>
          <p:nvPr/>
        </p:nvSpPr>
        <p:spPr>
          <a:xfrm rot="16200000">
            <a:off x="3777263" y="1842121"/>
            <a:ext cx="303598" cy="1180777"/>
          </a:xfrm>
          <a:prstGeom prst="downArrow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1AF6F169-CB4A-8E5D-381D-A045ABD9E4B3}"/>
              </a:ext>
            </a:extLst>
          </p:cNvPr>
          <p:cNvSpPr/>
          <p:nvPr/>
        </p:nvSpPr>
        <p:spPr>
          <a:xfrm rot="16200000">
            <a:off x="8034938" y="1860201"/>
            <a:ext cx="303598" cy="1180777"/>
          </a:xfrm>
          <a:prstGeom prst="downArrow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A15E9FED-EE25-1ECC-A5CC-CA2C1328AD06}"/>
              </a:ext>
            </a:extLst>
          </p:cNvPr>
          <p:cNvSpPr/>
          <p:nvPr/>
        </p:nvSpPr>
        <p:spPr>
          <a:xfrm rot="5400000">
            <a:off x="5868000" y="4723962"/>
            <a:ext cx="303598" cy="1180777"/>
          </a:xfrm>
          <a:prstGeom prst="downArrow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Bent-Up 17">
            <a:extLst>
              <a:ext uri="{FF2B5EF4-FFF2-40B4-BE49-F238E27FC236}">
                <a16:creationId xmlns:a16="http://schemas.microsoft.com/office/drawing/2014/main" id="{50341A49-8252-4013-E4D3-9F9050B35647}"/>
              </a:ext>
            </a:extLst>
          </p:cNvPr>
          <p:cNvSpPr/>
          <p:nvPr/>
        </p:nvSpPr>
        <p:spPr>
          <a:xfrm rot="5400000" flipV="1">
            <a:off x="9520319" y="4185119"/>
            <a:ext cx="1733551" cy="828512"/>
          </a:xfrm>
          <a:prstGeom prst="bentUpArrow">
            <a:avLst>
              <a:gd name="adj1" fmla="val 25000"/>
              <a:gd name="adj2" fmla="val 2743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707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7FA6D-ADA3-E497-3B66-C5C29D66A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AA25EEEA-08C6-9AB4-F98B-5A676698FCEB}"/>
              </a:ext>
            </a:extLst>
          </p:cNvPr>
          <p:cNvSpPr txBox="1"/>
          <p:nvPr/>
        </p:nvSpPr>
        <p:spPr>
          <a:xfrm>
            <a:off x="3680402" y="301076"/>
            <a:ext cx="48311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Garamond" panose="02020404030301010803" pitchFamily="18" charset="0"/>
                <a:ea typeface="MS Mincho" panose="02020609040205080304" pitchFamily="49" charset="-128"/>
              </a:rPr>
              <a:t>Working with the 3 constraints</a:t>
            </a:r>
            <a:endParaRPr lang="en-US" sz="3600" b="1" dirty="0">
              <a:solidFill>
                <a:schemeClr val="bg1"/>
              </a:solidFill>
              <a:latin typeface="Garamond" panose="02020404030301010803" pitchFamily="18" charset="0"/>
              <a:ea typeface="MS Mincho" panose="02020609040205080304" pitchFamily="49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4C81C8-BFE8-FD14-1109-4F81979A4E77}"/>
              </a:ext>
            </a:extLst>
          </p:cNvPr>
          <p:cNvSpPr txBox="1"/>
          <p:nvPr/>
        </p:nvSpPr>
        <p:spPr>
          <a:xfrm>
            <a:off x="420748" y="1443043"/>
            <a:ext cx="4604888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Gate 1 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Garamond" panose="02020404030301010803" pitchFamily="18" charset="0"/>
              </a:rPr>
              <a:t>Smear Limit (&lt; 0.05°/s )</a:t>
            </a:r>
          </a:p>
          <a:p>
            <a:pPr algn="ctr"/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algn="ctr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We actively dodged the 'silent killer' trap. Instead of greedy nadir-tracking which degrades frames, we enforce a strict 0.3s static "Hold-Pad" stabilization before all frames to hit a guaranteed 0.00°/s body rate.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27D3A4A-1C07-E4FB-9385-A73871AEB407}"/>
                  </a:ext>
                </a:extLst>
              </p:cNvPr>
              <p:cNvSpPr txBox="1"/>
              <p:nvPr/>
            </p:nvSpPr>
            <p:spPr>
              <a:xfrm>
                <a:off x="6912864" y="1443043"/>
                <a:ext cx="4858388" cy="2616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Garamond" panose="02020404030301010803" pitchFamily="18" charset="0"/>
                  </a:rPr>
                  <a:t>Gate 2 </a:t>
                </a:r>
              </a:p>
              <a:p>
                <a:pPr algn="ctr"/>
                <a:r>
                  <a:rPr lang="en-US" sz="2000" b="1" dirty="0">
                    <a:solidFill>
                      <a:schemeClr val="bg1"/>
                    </a:solidFill>
                    <a:latin typeface="Garamond" panose="02020404030301010803" pitchFamily="18" charset="0"/>
                  </a:rPr>
                  <a:t>Actuator Saturation Limit (≤ 30 </a:t>
                </a:r>
                <a:r>
                  <a:rPr lang="en-US" sz="2000" b="1" dirty="0" err="1">
                    <a:solidFill>
                      <a:schemeClr val="bg1"/>
                    </a:solidFill>
                    <a:latin typeface="Garamond" panose="02020404030301010803" pitchFamily="18" charset="0"/>
                  </a:rPr>
                  <a:t>mN·m·s</a:t>
                </a:r>
                <a:r>
                  <a:rPr lang="en-US" sz="2000" b="1" dirty="0">
                    <a:solidFill>
                      <a:schemeClr val="bg1"/>
                    </a:solidFill>
                    <a:latin typeface="Garamond" panose="02020404030301010803" pitchFamily="18" charset="0"/>
                  </a:rPr>
                  <a:t>)</a:t>
                </a:r>
              </a:p>
              <a:p>
                <a:pPr algn="ctr"/>
                <a:endParaRPr lang="en-US" dirty="0">
                  <a:solidFill>
                    <a:schemeClr val="bg1"/>
                  </a:solidFill>
                  <a:latin typeface="Garamond" panose="02020404030301010803" pitchFamily="18" charset="0"/>
                </a:endParaRPr>
              </a:p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Garamond" panose="02020404030301010803" pitchFamily="18" charset="0"/>
                  </a:rPr>
                  <a:t>Our 2-Opt TSP routing slashes angular distance, whilst dynamic frame-stretching smooths accelerations. This keeps accumulated wheel momentum drastically under the 30 </a:t>
                </a:r>
                <a:r>
                  <a:rPr lang="en-US" dirty="0" err="1">
                    <a:solidFill>
                      <a:schemeClr val="bg1"/>
                    </a:solidFill>
                    <a:latin typeface="Garamond" panose="02020404030301010803" pitchFamily="18" charset="0"/>
                  </a:rPr>
                  <a:t>mN·m·s</a:t>
                </a:r>
                <a:r>
                  <a:rPr lang="en-US" dirty="0">
                    <a:solidFill>
                      <a:schemeClr val="bg1"/>
                    </a:solidFill>
                    <a:latin typeface="Garamond" panose="02020404030301010803" pitchFamily="18" charset="0"/>
                  </a:rPr>
                  <a:t> cap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Garamond" panose="02020404030301010803" pitchFamily="18" charset="0"/>
                  </a:rPr>
                  <a:t> ≈ 0.61).</a:t>
                </a:r>
                <a:br>
                  <a:rPr lang="en-US" dirty="0">
                    <a:solidFill>
                      <a:schemeClr val="bg1"/>
                    </a:solidFill>
                    <a:latin typeface="Garamond" panose="02020404030301010803" pitchFamily="18" charset="0"/>
                  </a:rPr>
                </a:br>
                <a:endParaRPr lang="en-US" dirty="0">
                  <a:solidFill>
                    <a:schemeClr val="bg1"/>
                  </a:solidFill>
                  <a:latin typeface="Garamond" panose="02020404030301010803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27D3A4A-1C07-E4FB-9385-A73871AEB4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2864" y="1443043"/>
                <a:ext cx="4858388" cy="2616101"/>
              </a:xfrm>
              <a:prstGeom prst="rect">
                <a:avLst/>
              </a:prstGeom>
              <a:blipFill>
                <a:blip r:embed="rId2"/>
                <a:stretch>
                  <a:fillRect t="-13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CEADEBD-8D9B-734B-146B-ECEC8030D64A}"/>
              </a:ext>
            </a:extLst>
          </p:cNvPr>
          <p:cNvSpPr txBox="1"/>
          <p:nvPr/>
        </p:nvSpPr>
        <p:spPr>
          <a:xfrm>
            <a:off x="3143265" y="4496419"/>
            <a:ext cx="5905469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Gate 3 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Garamond" panose="02020404030301010803" pitchFamily="18" charset="0"/>
              </a:rPr>
              <a:t>Off-Nadir View Limit (≤ 60°)</a:t>
            </a:r>
          </a:p>
          <a:p>
            <a:pPr algn="ctr"/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algn="ctr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We mathematically lock our footprint boundary to never target any point exceeding a 59.2° tracking angle. This prevents physics-controller overshoot from busting the 60° limit.</a:t>
            </a:r>
            <a:b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</a:br>
            <a:b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</a:b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AA0A4E-B27E-C0D2-C02D-A9604AE41E77}"/>
              </a:ext>
            </a:extLst>
          </p:cNvPr>
          <p:cNvSpPr/>
          <p:nvPr/>
        </p:nvSpPr>
        <p:spPr>
          <a:xfrm>
            <a:off x="1270355" y="1801367"/>
            <a:ext cx="2905673" cy="2926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0AF170-935A-B890-EEE1-7DB2AA93D09B}"/>
              </a:ext>
            </a:extLst>
          </p:cNvPr>
          <p:cNvSpPr/>
          <p:nvPr/>
        </p:nvSpPr>
        <p:spPr>
          <a:xfrm>
            <a:off x="7058759" y="1801367"/>
            <a:ext cx="4581553" cy="29260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343C20-5EA3-A03F-C65A-81CCD714A798}"/>
              </a:ext>
            </a:extLst>
          </p:cNvPr>
          <p:cNvSpPr/>
          <p:nvPr/>
        </p:nvSpPr>
        <p:spPr>
          <a:xfrm>
            <a:off x="4459727" y="4838188"/>
            <a:ext cx="3272544" cy="2926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83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AEB22-07CB-7F8E-BC80-3B2CC072D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CB77F0E6-E65D-6796-BEC4-679E9733D390}"/>
              </a:ext>
            </a:extLst>
          </p:cNvPr>
          <p:cNvSpPr txBox="1"/>
          <p:nvPr/>
        </p:nvSpPr>
        <p:spPr>
          <a:xfrm>
            <a:off x="324291" y="257674"/>
            <a:ext cx="89559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aramond" panose="02020404030301010803" pitchFamily="18" charset="0"/>
                <a:ea typeface="MS Mincho" panose="02020609040205080304" pitchFamily="49" charset="-128"/>
              </a:rPr>
              <a:t>Mastering Case 3 Awareness – Admitting partial-coverage trade-offs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0DEB1C-F235-3574-B019-1809FD7A11CB}"/>
              </a:ext>
            </a:extLst>
          </p:cNvPr>
          <p:cNvSpPr txBox="1"/>
          <p:nvPr/>
        </p:nvSpPr>
        <p:spPr>
          <a:xfrm>
            <a:off x="99516" y="958712"/>
            <a:ext cx="119929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The Case 3 Reality: </a:t>
            </a:r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The 1,009 km cross-track offset makes the entire Eastern 45% of the AOI physically unreachable under the 60° off-nadir limit.</a:t>
            </a:r>
          </a:p>
          <a:p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Our Adaptation (Partial-Coverage):</a:t>
            </a:r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  <a:r>
              <a:rPr lang="en-US" u="sng" dirty="0">
                <a:solidFill>
                  <a:schemeClr val="bg1"/>
                </a:solidFill>
                <a:latin typeface="Garamond" panose="02020404030301010803" pitchFamily="18" charset="0"/>
              </a:rPr>
              <a:t>We intentionally abandon the Eastern edge</a:t>
            </a:r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, dynamically packing a tighter 5x4 grid purely into the reachable Western 55%.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60DDB8-4E28-BF27-E40A-900ABAD053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800" y="1697376"/>
            <a:ext cx="7961005" cy="53073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1F8A67-D811-AE5E-FC62-052947DC70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488" y="2565686"/>
            <a:ext cx="3924912" cy="3924912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56751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59DC1-4A21-703C-B861-1FC17EB30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7113510-3A27-E900-32FC-0F53B93F9128}"/>
              </a:ext>
            </a:extLst>
          </p:cNvPr>
          <p:cNvSpPr txBox="1"/>
          <p:nvPr/>
        </p:nvSpPr>
        <p:spPr>
          <a:xfrm>
            <a:off x="5710014" y="423147"/>
            <a:ext cx="31502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aramond" panose="02020404030301010803" pitchFamily="18" charset="0"/>
                <a:ea typeface="MS Mincho" panose="02020609040205080304" pitchFamily="49" charset="-128"/>
              </a:rPr>
              <a:t>Mock Harness Results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A0E3D9-7B21-16CB-C3C8-BC7F27C1B9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260024"/>
              </p:ext>
            </p:extLst>
          </p:nvPr>
        </p:nvGraphicFramePr>
        <p:xfrm>
          <a:off x="5837080" y="2895563"/>
          <a:ext cx="2896095" cy="2972828"/>
        </p:xfrm>
        <a:graphic>
          <a:graphicData uri="http://schemas.openxmlformats.org/drawingml/2006/table">
            <a:tbl>
              <a:tblPr firstRow="1" firstCol="1">
                <a:tableStyleId>{2D5ABB26-0587-4C30-8999-92F81FD0307C}</a:tableStyleId>
              </a:tblPr>
              <a:tblGrid>
                <a:gridCol w="888005">
                  <a:extLst>
                    <a:ext uri="{9D8B030D-6E8A-4147-A177-3AD203B41FA5}">
                      <a16:colId xmlns:a16="http://schemas.microsoft.com/office/drawing/2014/main" val="3609265442"/>
                    </a:ext>
                  </a:extLst>
                </a:gridCol>
                <a:gridCol w="654850">
                  <a:extLst>
                    <a:ext uri="{9D8B030D-6E8A-4147-A177-3AD203B41FA5}">
                      <a16:colId xmlns:a16="http://schemas.microsoft.com/office/drawing/2014/main" val="3246374950"/>
                    </a:ext>
                  </a:extLst>
                </a:gridCol>
                <a:gridCol w="682519">
                  <a:extLst>
                    <a:ext uri="{9D8B030D-6E8A-4147-A177-3AD203B41FA5}">
                      <a16:colId xmlns:a16="http://schemas.microsoft.com/office/drawing/2014/main" val="2909375945"/>
                    </a:ext>
                  </a:extLst>
                </a:gridCol>
                <a:gridCol w="670721">
                  <a:extLst>
                    <a:ext uri="{9D8B030D-6E8A-4147-A177-3AD203B41FA5}">
                      <a16:colId xmlns:a16="http://schemas.microsoft.com/office/drawing/2014/main" val="3438935501"/>
                    </a:ext>
                  </a:extLst>
                </a:gridCol>
              </a:tblGrid>
              <a:tr h="2900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</a:rPr>
                        <a:t>Metric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</a:rPr>
                        <a:t>Case 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</a:rPr>
                        <a:t>Case 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</a:rPr>
                        <a:t>Case 3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54693"/>
                  </a:ext>
                </a:extLst>
              </a:tr>
              <a:tr h="3797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 err="1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</a:rPr>
                        <a:t>S_orbit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</a:rPr>
                        <a:t>1.2354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</a:rPr>
                        <a:t>1.2568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</a:rPr>
                        <a:t>1.3172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2165452"/>
                  </a:ext>
                </a:extLst>
              </a:tr>
              <a:tr h="4116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</a:rPr>
                        <a:t>Coverage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</a:rPr>
                        <a:t>0.9997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</a:rPr>
                        <a:t>0.9937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</a:rPr>
                        <a:t>1.0000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6168615"/>
                  </a:ext>
                </a:extLst>
              </a:tr>
              <a:tr h="5425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</a:rPr>
                        <a:t>Effort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</a:rPr>
                        <a:t>0.6104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</a:rPr>
                        <a:t>0.7065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</a:rPr>
                        <a:t>0.8890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2236607"/>
                  </a:ext>
                </a:extLst>
              </a:tr>
              <a:tr h="5425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</a:rPr>
                        <a:t>Time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</a:rPr>
                        <a:t>0.8316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</a:rPr>
                        <a:t>0.8810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</a:rPr>
                        <a:t>0.9496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8266207"/>
                  </a:ext>
                </a:extLst>
              </a:tr>
              <a:tr h="3797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</a:rPr>
                        <a:t>Smear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</a:rPr>
                        <a:t>1.0000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</a:rPr>
                        <a:t>1.0000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</a:rPr>
                        <a:t>1.0000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6284299"/>
                  </a:ext>
                </a:extLst>
              </a:tr>
              <a:tr h="4116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</a:rPr>
                        <a:t>Frames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</a:rPr>
                        <a:t>35 / 35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</a:rPr>
                        <a:t>28 / 28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</a:rPr>
                        <a:t>13 / 13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673067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0CF23F9-EFE5-DCE0-7A83-4EAF569A0323}"/>
              </a:ext>
            </a:extLst>
          </p:cNvPr>
          <p:cNvSpPr txBox="1"/>
          <p:nvPr/>
        </p:nvSpPr>
        <p:spPr>
          <a:xfrm>
            <a:off x="5608562" y="1529718"/>
            <a:ext cx="33531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chemeClr val="bg1">
                    <a:lumMod val="95000"/>
                  </a:schemeClr>
                </a:solidFill>
                <a:latin typeface="Garamond" panose="02020404030301010803" pitchFamily="18" charset="0"/>
                <a:ea typeface="MS Mincho" panose="02020609040205080304" pitchFamily="49" charset="-128"/>
              </a:rPr>
              <a:t>Final Score = 1.2756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6970CA-74A3-2D6A-D693-20EC5106EF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" r="30326"/>
          <a:stretch>
            <a:fillRect/>
          </a:stretch>
        </p:blipFill>
        <p:spPr>
          <a:xfrm>
            <a:off x="337046" y="1398046"/>
            <a:ext cx="5271516" cy="4522682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B3FCF31-27FA-91E4-6CDA-56005CCEA07E}"/>
              </a:ext>
            </a:extLst>
          </p:cNvPr>
          <p:cNvSpPr txBox="1"/>
          <p:nvPr/>
        </p:nvSpPr>
        <p:spPr>
          <a:xfrm>
            <a:off x="9037677" y="405471"/>
            <a:ext cx="31922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aramond" panose="02020404030301010803" pitchFamily="18" charset="0"/>
                <a:ea typeface="MS Mincho" panose="02020609040205080304" pitchFamily="49" charset="-128"/>
              </a:rPr>
              <a:t>Limits &amp; What’s Next?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D92FC9-E6C1-1D4A-8FDF-80465F073A2C}"/>
              </a:ext>
            </a:extLst>
          </p:cNvPr>
          <p:cNvSpPr txBox="1"/>
          <p:nvPr/>
        </p:nvSpPr>
        <p:spPr>
          <a:xfrm>
            <a:off x="9037677" y="1443841"/>
            <a:ext cx="315432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Current Brittle Limit: </a:t>
            </a:r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The 2-Opt TSP solver calculation speed limits us; pushing attitude samples past 5 Hz or massively increasing grid resolution begins threatening the 120-second timeout.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What's Next: </a:t>
            </a:r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Replacing the greedy local TSP sequence with an offline Mixed-Integer Linear Program (MILP) to calculate the absolute global minimum for slew tracking.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22A214-C06C-FCDE-0398-662AE8852F80}"/>
              </a:ext>
            </a:extLst>
          </p:cNvPr>
          <p:cNvSpPr/>
          <p:nvPr/>
        </p:nvSpPr>
        <p:spPr>
          <a:xfrm>
            <a:off x="5837079" y="1398046"/>
            <a:ext cx="2896095" cy="66345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24AC61-CFAC-F7E7-7033-3BFB58FDE795}"/>
              </a:ext>
            </a:extLst>
          </p:cNvPr>
          <p:cNvSpPr txBox="1"/>
          <p:nvPr/>
        </p:nvSpPr>
        <p:spPr>
          <a:xfrm>
            <a:off x="1434283" y="6034254"/>
            <a:ext cx="28001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Garamond" panose="02020404030301010803" pitchFamily="18" charset="0"/>
                <a:ea typeface="MS Mincho" panose="02020609040205080304" pitchFamily="49" charset="-128"/>
              </a:rPr>
              <a:t>Live demo run of mock harness</a:t>
            </a:r>
          </a:p>
        </p:txBody>
      </p:sp>
    </p:spTree>
    <p:extLst>
      <p:ext uri="{BB962C8B-B14F-4D97-AF65-F5344CB8AC3E}">
        <p14:creationId xmlns:p14="http://schemas.microsoft.com/office/powerpoint/2010/main" val="3976519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</TotalTime>
  <Words>661</Words>
  <Application>Microsoft Office PowerPoint</Application>
  <PresentationFormat>Widescreen</PresentationFormat>
  <Paragraphs>96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Garamond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Shreeji Kumawat</dc:creator>
  <cp:lastModifiedBy>Shreeji Kumawat</cp:lastModifiedBy>
  <cp:revision>9</cp:revision>
  <dcterms:created xsi:type="dcterms:W3CDTF">2026-04-25T13:11:05Z</dcterms:created>
  <dcterms:modified xsi:type="dcterms:W3CDTF">2026-04-26T04:19:53Z</dcterms:modified>
</cp:coreProperties>
</file>